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FFC65C"/>
                </a:solidFill>
                <a:latin typeface="Apple SD Gothic Neo"/>
              </a:defRPr>
            </a:pPr>
            <a:r>
              <a:t>프로젝트 소개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E6E9F1"/>
                </a:solidFill>
                <a:latin typeface="Apple SD Gothic Neo"/>
              </a:defRPr>
            </a:pPr>
            <a:r>
              <a:t>신과함께 (WithGod)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BEEF7"/>
                </a:solidFill>
                <a:latin typeface="Apple SD Gothic Neo"/>
              </a:defRPr>
            </a:pPr>
            <a:r>
              <a:t>"당신의 마음에 위로를 전해요"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전체 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CLIENT (Mobile App)                    │</a:t>
            </a:r>
            <a:br/>
            <a:r>
              <a:t>│              React Native + Expo + TypeScript               │</a:t>
            </a:r>
            <a:br/>
            <a:r>
              <a:t>└─────────────────────────────┬───────────────────────────────┘</a:t>
            </a:r>
            <a:br/>
            <a:r>
              <a:t>                              │ REST API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SERVER (FastAPI)                       │</a:t>
            </a:r>
            <a:br/>
            <a:r>
              <a:t>│                                                             │</a:t>
            </a:r>
            <a:br/>
            <a:r>
              <a:t>│  ┌─────────────┐    ┌─────────────┐    ┌─────────────────┐  │</a:t>
            </a:r>
            <a:br/>
            <a:r>
              <a:t>│  │  /random    │    │ /recommend  │    │  RAG Pipeline   │  │</a:t>
            </a:r>
            <a:br/>
            <a:r>
              <a:t>│  │  (랜덤 구절)  │    │ (AI 추천)     │   │                  │  │</a:t>
            </a:r>
            <a:br/>
            <a:r>
              <a:t>│  └─────────────┘    └──────┬──────┘    │ • Embedding     │  │</a:t>
            </a:r>
            <a:br/>
            <a:r>
              <a:t>│                            │           │ • FAISS Search  │  │</a:t>
            </a:r>
            <a:br/>
            <a:r>
              <a:t>│                            ▼           │ • LLM Generate  │  │</a:t>
            </a:r>
            <a:br/>
            <a:r>
              <a:t>│  ┌─────────────────────────────────┐   └─────────────────┘  │</a:t>
            </a:r>
            <a:br/>
            <a:r>
              <a:t>│  │         Vector DB (FAISS)       │                        │</a:t>
            </a:r>
            <a:br/>
            <a:r>
              <a:t>│  │      성경 31,000절 임베딩 저장       │                        │</a:t>
            </a:r>
            <a:br/>
            <a:r>
              <a:t>│  └─────────────────────────────────┘                        │</a:t>
            </a:r>
            <a:br/>
            <a:r>
              <a:t>│                            │                                │</a:t>
            </a:r>
            <a:br/>
            <a:r>
              <a:t>│                            ▼                                │</a:t>
            </a:r>
            <a:br/>
            <a:r>
              <a:t>│  ┌─────────────────────────────────┐                        │</a:t>
            </a:r>
            <a:br/>
            <a:r>
              <a:t>│  │      LLM (OpenAI gpt-4o-mini)   │                        │</a:t>
            </a:r>
            <a:br/>
            <a:r>
              <a:t>│  │         코멘트 &amp; 태그 생성          │                        │</a:t>
            </a:r>
            <a:br/>
            <a:r>
              <a:t>│  └─────────────────────────────────┘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Full Stack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왜 React Native인가?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기술 비교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항목 | Flutter | React Native |</a:t>
            </a:r>
            <a:br/>
            <a:r>
              <a:t>|------|---------|--------------|</a:t>
            </a:r>
            <a:br/>
            <a:r>
              <a:t>| **언어** | Dart | JavaScript/TypeScript |</a:t>
            </a:r>
            <a:br/>
            <a:r>
              <a:t>| **렌더링** | 자체 엔진 (Skia) | 네이티브 UI 컴포넌트 |</a:t>
            </a:r>
            <a:br/>
            <a:r>
              <a:t>| **개발사** | Google | Meta (Facebook) |</a:t>
            </a:r>
            <a:br/>
            <a:r>
              <a:t>| **출시** | 2018 | 2015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React Native 선택 이유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**1. 웹 개발자 친화적 생태계**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JavaScript/TypeScript 기반 → 웹 개발 경험 활용 가능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React 패턴 그대로 사용 (Hooks, Context, JSX)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npm 생태계의 방대한 라이브러리 활용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**2. 네이티브 UI 철학**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플랫폼 네이티브 컴포넌트 사용 → iOS는 iOS답게, Android는 Android답게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Flutter는 자체 렌더링 → 플랫폼 느낌이 다를 수 있음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**3. 점진적 도입 용이**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기존 네이티브 앱에 부분 적용 가능 (Brownfield)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네이티브 모듈 연동이 상대적으로 수월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**4. Expo의 강력한 DX**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빌드/배포 자동화 (EAS Build)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OTA 업데이트 (앱스토어 심사 없이 즉시 배포)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다양한 기본 제공 API (카메라, 위치, 알림 등)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**5. 실제 사용 기업**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Meta (Facebook, Instagram, Messenger)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Microsoft (Outlook, Teams)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Shopify, Discord, Pinterest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 i="1">
                <a:solidFill>
                  <a:srgbClr val="23375C"/>
                </a:solidFill>
                <a:latin typeface="Apple SD Gothic Neo"/>
              </a:defRPr>
            </a:pPr>
            <a:r>
              <a:t>"익숙한 기술로 빠르게 시작하고, 네이티브 경험을 유지하자"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Flutter vs React 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기술 스택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Frontend (Mobile App)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분류 | 기술 |</a:t>
            </a:r>
            <a:br/>
            <a:r>
              <a:t>|------|------|</a:t>
            </a:r>
            <a:br/>
            <a:r>
              <a:t>| **Framework** | React Native 0.81 + Expo 54 |</a:t>
            </a:r>
            <a:br/>
            <a:r>
              <a:t>| **Language** | TypeScript 5.9 |</a:t>
            </a:r>
            <a:br/>
            <a:r>
              <a:t>| **Routing** | Expo Router (파일 기반) |</a:t>
            </a:r>
            <a:br/>
            <a:r>
              <a:t>| **상태관리** | Zustand + React Query |</a:t>
            </a:r>
            <a:br/>
            <a:r>
              <a:t>| **API 통신** | Axios |</a:t>
            </a:r>
            <a:br/>
            <a:r>
              <a:t>| **데이터 검증** | Zod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Backend (AI Server)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분류 | 기술 |</a:t>
            </a:r>
            <a:br/>
            <a:r>
              <a:t>|------|------|</a:t>
            </a:r>
            <a:br/>
            <a:r>
              <a:t>| **Framework** | FastAPI (Python) |</a:t>
            </a:r>
            <a:br/>
            <a:r>
              <a:t>| **Embedding** | SentenceTransformer (multilingual-e5-base) |</a:t>
            </a:r>
            <a:br/>
            <a:r>
              <a:t>| **Vector DB** | FAISS (IndexFlatIP) |</a:t>
            </a:r>
            <a:br/>
            <a:r>
              <a:t>| **LLM** | OpenAI gpt-4o-mini |</a:t>
            </a:r>
            <a:br/>
            <a:r>
              <a:t>| **데이터** | 성경 KR1910 (약 31,000절)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RAG란 무엇인가?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왜 RAG인가?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**LLM 단독 생성의 한계**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최신 정보 반영 어려움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도메인 지식 정확성 부족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근거 없는 응답 (Hallucination) 가능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특정 문헌(성경)에 대한 직접 참조 불가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**RAG의 해결책**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외부 지식 **검색(Retrieval)** + LLM **생성(Generation)** 결합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도메인 DB 기반 검색으로 응답 정확성 향상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성경 본문을 근거로 신뢰도 높은 응답 제공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RAG 핵심 구성 요소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1. **벡터 임베딩** - 텍스트를 벡터로 변환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2. **벡터 DB** - 효율적 인덱싱/검색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3. **검색 (Retrieval)** - 질의와 유사한 텍스트 검색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4. **생성 (Generation)** - 검색된 정보 기반 LLM 응답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RAG 파이프라인 상세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1. INDEXING (사전 준비)    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│</a:t>
            </a:r>
            <a:br/>
            <a:r>
              <a:t>│  성경 원문 → 절 단위 Chunking → Embedding → FAISS 저장       │</a:t>
            </a:r>
            <a:br/>
            <a:r>
              <a:t>│                                                              │</a:t>
            </a:r>
            <a:br/>
            <a:r>
              <a:t>│  • 청킹 전략: "성경 한 절 = 하나의 chunk"                     │</a:t>
            </a:r>
            <a:br/>
            <a:r>
              <a:t>│  • 임베딩 모델: multilingual-e5-base                         │</a:t>
            </a:r>
            <a:br/>
            <a:r>
              <a:t>│  • 저장: FAISS IndexFlatIP (약 31,000 벡터)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2. RETRIEVAL (검색)      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│</a:t>
            </a:r>
            <a:br/>
            <a:r>
              <a:t>│  사용자 입력 → Query 임베딩 → FAISS 유사도 검색 → Top-K 결과  │</a:t>
            </a:r>
            <a:br/>
            <a:r>
              <a:t>│                                                              │</a:t>
            </a:r>
            <a:br/>
            <a:r>
              <a:t>│  • 입력: "오늘 너무 힘들어요"                                 │</a:t>
            </a:r>
            <a:br/>
            <a:r>
              <a:t>│  • 검색: 코사인 유사도 기반 Top-5 성경 구절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3. GENERATION (생성)     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│</a:t>
            </a:r>
            <a:br/>
            <a:r>
              <a:t>│  검색 결과(Context) + Prompt → LLM → 최종 응답               │</a:t>
            </a:r>
            <a:br/>
            <a:r>
              <a:t>│                                                              │</a:t>
            </a:r>
            <a:br/>
            <a:r>
              <a:t>│  • 검색된 5개 구절 중 최적 3개 선택                           │</a:t>
            </a:r>
            <a:br/>
            <a:r>
              <a:t>│  • 각 구절에 맞는 위로 코멘트 생성                            │</a:t>
            </a:r>
            <a:br/>
            <a:r>
              <a:t>│  • 태그 생성 (소망, 위로, 평안 등)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3단계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Indexing 단계 상세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1. 문서 준비 (prepare.py)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# 장 단위 텍스트를 절 단위로 파싱</a:t>
            </a:r>
            <a:br/>
            <a:r>
              <a:t>def parse_chapter_text(name, text):</a:t>
            </a:r>
            <a:br/>
            <a:r>
              <a:t>    for line in text.splitlines():</a:t>
            </a:r>
            <a:br/>
            <a:r>
              <a:t>        # "1 태초에 하나님이 천지를 창조하시니라"</a:t>
            </a:r>
            <a:br/>
            <a:r>
              <a:t>        mv = re.match(r"^(\d+)\s+(.+)$", line)</a:t>
            </a:r>
            <a:br/>
            <a:r>
              <a:t>        if mv:</a:t>
            </a:r>
            <a:br/>
            <a:r>
              <a:t>            vnum = int(mv.group(1))</a:t>
            </a:r>
            <a:br/>
            <a:r>
              <a:t>            body = mv.group(2).strip()</a:t>
            </a:r>
            <a:br/>
            <a:r>
              <a:t>            # 성경 한 절 = 하나의 chunk</a:t>
            </a:r>
            <a:br/>
            <a:r>
              <a:t>            verses.append((book_name, chap, vnum, body))</a:t>
            </a:r>
            <a:br/>
            <a:r>
              <a:t>    return verses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2. 임베딩 생성 (index.py)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# SentenceTransformer 기반 임베딩</a:t>
            </a:r>
            <a:br/>
            <a:r>
              <a:t>model = SentenceTransformer("intfloat/multilingual-e5-base")</a:t>
            </a:r>
            <a:br/>
            <a:br/>
            <a:r>
              <a:t># E5 모델 권장 방식: passage: prefix</a:t>
            </a:r>
            <a:br/>
            <a:r>
              <a:t>passages = [f"passage: {t}" for t in df["clean"].tolist()]</a:t>
            </a:r>
            <a:br/>
            <a:r>
              <a:t>emb = model.encode(passages, normalize_embeddings=True)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3. FAISS 인덱스 생성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# 정규화된 벡터 + Inner Product = 코사인 유사도</a:t>
            </a:r>
            <a:br/>
            <a:r>
              <a:t>index = faiss.IndexFlatIP(emb.shape[1])</a:t>
            </a:r>
            <a:br/>
            <a:r>
              <a:t>index.add(emb)</a:t>
            </a:r>
            <a:br/>
            <a:r>
              <a:t>faiss.write_index(index, "bible.faiss")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성경 데이터 벡터화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Retrieval &amp; Generation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Retrieval (검색)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# 사용자 입력을 query: prefix로 임베딩</a:t>
            </a:r>
            <a:br/>
            <a:r>
              <a:t>q = model.encode([f"query: {mood}"], normalize_embeddings=True)</a:t>
            </a:r>
            <a:br/>
            <a:br/>
            <a:r>
              <a:t># FAISS에서 Top-K 검색</a:t>
            </a:r>
            <a:br/>
            <a:r>
              <a:t>D, I = index.search(q, TOP_K)  # TOP_K = 5</a:t>
            </a:r>
            <a:br/>
            <a:br/>
            <a:r>
              <a:t># 검색 결과를 후보군으로 구성</a:t>
            </a:r>
            <a:br/>
            <a:r>
              <a:t>for score, idx in zip(D[0], I[0]):</a:t>
            </a:r>
            <a:br/>
            <a:r>
              <a:t>    row = df.iloc[int(idx)]</a:t>
            </a:r>
            <a:br/>
            <a:r>
              <a:t>    candidates.append({</a:t>
            </a:r>
            <a:br/>
            <a:r>
              <a:t>        "ref": f"{row['book']} {row['chapter']}:{row['verse']}",</a:t>
            </a:r>
            <a:br/>
            <a:r>
              <a:t>        "text": row["text"],</a:t>
            </a:r>
            <a:br/>
            <a:r>
              <a:t>        "score": float(score)</a:t>
            </a:r>
            <a:br/>
            <a:r>
              <a:t>    })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Generation (LLM 생성)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system_prompt = """</a:t>
            </a:r>
            <a:br/>
            <a:r>
              <a:t>당신은 한국어만 사용하는 목회적 상담 도우미입니다.</a:t>
            </a:r>
            <a:br/>
            <a:r>
              <a:t>항상 따뜻하고 공감적인 어휘를 사용하세요.</a:t>
            </a:r>
            <a:br/>
            <a:r>
              <a:t>"""</a:t>
            </a:r>
            <a:br/>
            <a:br/>
            <a:r>
              <a:t>user_prompt = f"""</a:t>
            </a:r>
            <a:br/>
            <a:r>
              <a:t>사용자 기분/상태: "{mood}"</a:t>
            </a:r>
            <a:br/>
            <a:r>
              <a:t>후보 성경 구절(5개): {candidates}</a:t>
            </a:r>
            <a:br/>
            <a:br/>
            <a:r>
              <a:t>요청:</a:t>
            </a:r>
            <a:br/>
            <a:r>
              <a:t>1) 가장 적절한 성경 구절 3개만 선택</a:t>
            </a:r>
            <a:br/>
            <a:r>
              <a:t>2) 각 구절에 대한 위로 comment 생성</a:t>
            </a:r>
            <a:br/>
            <a:r>
              <a:t>3) 태그 생성</a:t>
            </a:r>
            <a:br/>
            <a:r>
              <a:t>4) JSON 배열만 출력</a:t>
            </a:r>
            <a:br/>
            <a:r>
              <a:t>"""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검색 및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Backend API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/random - 랜덤 성경 구절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GET /random</a:t>
            </a:r>
            <a:br/>
            <a:r>
              <a:t>Response: { ref, text }</a:t>
            </a:r>
          </a:p>
          <a:p>
            <a:pPr>
              <a:spcAft>
                <a:spcPts val="600"/>
              </a:spcAft>
            </a:pP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검색/생성 없이 랜덤 구절 반환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가벼운 요청으로 빠른 응답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/recommend - RAG 기반 추천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POST /recommend</a:t>
            </a:r>
            <a:br/>
            <a:r>
              <a:t>Body: { mood: "오늘 너무 힘들어요" }</a:t>
            </a:r>
            <a:br/>
            <a:r>
              <a:t>Response: [</a:t>
            </a:r>
            <a:br/>
            <a:r>
              <a:t>  {</a:t>
            </a:r>
            <a:br/>
            <a:r>
              <a:t>    "ref": "시편 23:1",</a:t>
            </a:r>
            <a:br/>
            <a:r>
              <a:t>    "text": "여호와는 나의 목자시니...",</a:t>
            </a:r>
            <a:br/>
            <a:r>
              <a:t>    "comment": "힘들 때 하나님께 맡기며...",</a:t>
            </a:r>
            <a:br/>
            <a:r>
              <a:t>    "tag": "소망"</a:t>
            </a:r>
            <a:br/>
            <a:r>
              <a:t>  },</a:t>
            </a:r>
            <a:br/>
            <a:r>
              <a:t>  ...</a:t>
            </a:r>
            <a:br/>
            <a:r>
              <a:t>]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주요 파라미터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**TOP_K**: 5 (검색할 후보 개수)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**PICKS**: 3 (최종 선택 개수)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**temperature**: 0.4 (LLM 창작 억제)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**response_format**: json_object (구조화 응답)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FastAPI 엔드포인트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Frontend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┌─────────────────────────────────┐</a:t>
            </a:r>
            <a:br/>
            <a:r>
              <a:t>│      Presentation Layer         │</a:t>
            </a:r>
            <a:br/>
            <a:r>
              <a:t>│   (app/ - 화면, 라우팅)          │</a:t>
            </a:r>
            <a:br/>
            <a:r>
              <a:t>└───────────────┬─────────────────┘</a:t>
            </a:r>
            <a:br/>
            <a:r>
              <a:t>                │</a:t>
            </a:r>
            <a:br/>
            <a:r>
              <a:t>┌───────────────▼─────────────────┐</a:t>
            </a:r>
            <a:br/>
            <a:r>
              <a:t>│       Features Layer            │</a:t>
            </a:r>
            <a:br/>
            <a:r>
              <a:t>│  (features/verse - 도메인 로직)  │</a:t>
            </a:r>
            <a:br/>
            <a:r>
              <a:t>│  • API 함수                      │</a:t>
            </a:r>
            <a:br/>
            <a:r>
              <a:t>│  • Zod 스키마                    │</a:t>
            </a:r>
            <a:br/>
            <a:r>
              <a:t>│  • React Query 훅               │</a:t>
            </a:r>
            <a:br/>
            <a:r>
              <a:t>└───────────────┬─────────────────┘</a:t>
            </a:r>
            <a:br/>
            <a:r>
              <a:t>                │</a:t>
            </a:r>
            <a:br/>
            <a:r>
              <a:t>┌───────────────▼─────────────────┐</a:t>
            </a:r>
            <a:br/>
            <a:r>
              <a:t>│        Shared Layer             │</a:t>
            </a:r>
            <a:br/>
            <a:r>
              <a:t>│  • API 클라이언트               │</a:t>
            </a:r>
            <a:br/>
            <a:r>
              <a:t>│  • 공통 훅 &amp; 컴포넌트            │</a:t>
            </a:r>
            <a:br/>
            <a:r>
              <a:t>│  • Zustand 스토어               │</a:t>
            </a:r>
            <a:br/>
            <a:r>
              <a:t>│  • 테마 &amp; 상수                   │</a:t>
            </a:r>
            <a:br/>
            <a:r>
              <a:t>└─────────────────────────────────┘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Feature-based Layered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Frontend 폴더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src/</a:t>
            </a:r>
            <a:br/>
            <a:r>
              <a:t>├── app/                    # 화면 &amp; 라우팅</a:t>
            </a:r>
            <a:br/>
            <a:r>
              <a:t>│   ├── (tabs)/            # 탭 네비게이션</a:t>
            </a:r>
            <a:br/>
            <a:r>
              <a:t>│   │   └── index.tsx      # 메인 홈</a:t>
            </a:r>
            <a:br/>
            <a:r>
              <a:t>│   ├── result.tsx         # 추천 결과</a:t>
            </a:r>
            <a:br/>
            <a:r>
              <a:t>│   └── _layout.tsx        # 루트 레이아웃</a:t>
            </a:r>
            <a:br/>
            <a:r>
              <a:t>│</a:t>
            </a:r>
            <a:br/>
            <a:r>
              <a:t>├── features/              # 기능 모듈</a:t>
            </a:r>
            <a:br/>
            <a:r>
              <a:t>│   └── verse/</a:t>
            </a:r>
            <a:br/>
            <a:r>
              <a:t>│       ├── api/           # API 레이어</a:t>
            </a:r>
            <a:br/>
            <a:r>
              <a:t>│       │   ├── verseApi.ts</a:t>
            </a:r>
            <a:br/>
            <a:r>
              <a:t>│       │   └── schema.ts  # Zod 스키마</a:t>
            </a:r>
            <a:br/>
            <a:r>
              <a:t>│       └── hooks/         # React Query 훅</a:t>
            </a:r>
            <a:br/>
            <a:r>
              <a:t>│</a:t>
            </a:r>
            <a:br/>
            <a:r>
              <a:t>└── shared/                # 공유 리소스</a:t>
            </a:r>
            <a:br/>
            <a:r>
              <a:t>    ├── api/               # Axios 설정</a:t>
            </a:r>
            <a:br/>
            <a:r>
              <a:t>    ├── hooks/             # 커스텀 훅</a:t>
            </a:r>
            <a:br/>
            <a:r>
              <a:t>    ├── stores/            # Zustand</a:t>
            </a:r>
            <a:br/>
            <a:r>
              <a:t>    ├── styles/            # 공통 스타일</a:t>
            </a:r>
            <a:br/>
            <a:r>
              <a:t>    └── lib/               # React Query 설정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프로젝트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React Hooks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1800" i="1">
                <a:solidFill>
                  <a:srgbClr val="23375C"/>
                </a:solidFill>
                <a:latin typeface="Apple SD Gothic Neo"/>
              </a:defRPr>
            </a:pPr>
            <a:r>
              <a:t>함수형 컴포넌트에서 상태와 생명주기를 다루는 함수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React 16.8 (2019) 이전 vs 이후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이전: Class 컴포넌트 필수 (this.state, componentDidMount 등)</a:t>
            </a:r>
            <a:br/>
            <a:r>
              <a:t>     ↓</a:t>
            </a:r>
            <a:br/>
            <a:r>
              <a:t>이후: 함수형 컴포넌트 + Hooks로 동일 기능 구현</a:t>
            </a:r>
            <a:br/>
            <a:r>
              <a:t>     → 코드 간결화, 로직 재사용 용이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왜 Hooks가 중요한가?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**React Native의 핵심 패러다임**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상태, 사이드 이펙트, 메모이제이션 모두 Hooks로 처리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커스텀 훅으로 **비즈니스 로직 재사용**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프로젝트에서 사용한 Hooks 분류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분류 | 훅 | 용도 |</a:t>
            </a:r>
            <a:br/>
            <a:r>
              <a:t>|------|-----|------|</a:t>
            </a:r>
            <a:br/>
            <a:r>
              <a:t>| **React 기본** | useState, useEffect, useMemo, useCallback | 상태, 효과, 최적화 |</a:t>
            </a:r>
            <a:br/>
            <a:r>
              <a:t>| **React Query** | useQuery, useMutation | 서버 상태 관리 |</a:t>
            </a:r>
            <a:br/>
            <a:r>
              <a:t>| **Expo Router** | useRouter, useLocalSearchParams | 화면 이동, 파라미터 |</a:t>
            </a:r>
            <a:br/>
            <a:r>
              <a:t>| **SafeArea** | useSafeAreaInsets | 노치/홈바 영역 처리 |</a:t>
            </a:r>
            <a:br/>
            <a:r>
              <a:t>| **커스텀** | useKeyboardVisible, useSafeAreaPadding 등 | 비즈니스 로직 추상화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Hooks란?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React 기본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1. useState - 상태 관리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const [message, setMessage] = useState("");</a:t>
            </a:r>
            <a:br/>
            <a:br/>
            <a:r>
              <a:t>// 사용자 입력 저장</a:t>
            </a:r>
            <a:br/>
            <a:r>
              <a:t>&lt;TextInput value={message} onChangeText={setMessage} /&gt;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2. useEffect - 사이드 이펙트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// 컴포넌트 마운트 시 실행</a:t>
            </a:r>
            <a:br/>
            <a:r>
              <a:t>useEffect(() =&gt; {</a:t>
            </a:r>
            <a:br/>
            <a:r>
              <a:t>  // API 호출, 이벤트 리스너 등록 등</a:t>
            </a:r>
            <a:br/>
            <a:r>
              <a:t>  return () =&gt; {</a:t>
            </a:r>
            <a:br/>
            <a:r>
              <a:t>    // 클린업 (언마운트 시)</a:t>
            </a:r>
            <a:br/>
            <a:r>
              <a:t>  };</a:t>
            </a:r>
            <a:br/>
            <a:r>
              <a:t>}, [dependencies]);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3. useMemo - 값 메모이제이션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// message가 변경될 때만 재계산</a:t>
            </a:r>
            <a:br/>
            <a:r>
              <a:t>const trimmedMessage = useMemo(() =&gt; message.trim(), [message]);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4. useCallback - 함수 메모이제이션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// 불필요한 함수 재생성 방지</a:t>
            </a:r>
            <a:br/>
            <a:r>
              <a:t>const handleSend = useCallback(() =&gt; {</a:t>
            </a:r>
            <a:br/>
            <a:r>
              <a:t>  router.push({ pathname: "/result", params: { mood } });</a:t>
            </a:r>
            <a:br/>
            <a:r>
              <a:t>}, [router, mood]);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메모이제이션이 중요한 이유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React는 상태 변경 시 **리렌더링** 발생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매번 함수/값이 새로 생성되면 **성능 저하**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useMemo/useCallback으로 **불필요한 재생성 방지**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핵심 4가지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상태 관리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역할 분담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상태 종류 | 관리 도구 | 예시 |</a:t>
            </a:r>
            <a:br/>
            <a:r>
              <a:t>|----------|----------|------|</a:t>
            </a:r>
            <a:br/>
            <a:r>
              <a:t>| **서버 상태** | React Query | API 응답, 캐싱 |</a:t>
            </a:r>
            <a:br/>
            <a:r>
              <a:t>| **전역 UI 상태** | Zustand | 로딩, 현재 말씀 |</a:t>
            </a:r>
            <a:br/>
            <a:r>
              <a:t>| **로컬 상태** | useState | 입력값, 토글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React Query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const queryClient = new QueryClient({</a:t>
            </a:r>
            <a:br/>
            <a:r>
              <a:t>  defaultOptions: {</a:t>
            </a:r>
            <a:br/>
            <a:r>
              <a:t>    queries: {</a:t>
            </a:r>
            <a:br/>
            <a:r>
              <a:t>      staleTime: 5 * 60 * 1000,  // 5분</a:t>
            </a:r>
            <a:br/>
            <a:r>
              <a:t>      gcTime: 10 * 60 * 1000,    // 10분</a:t>
            </a:r>
            <a:br/>
            <a:r>
              <a:t>      retry: 2,</a:t>
            </a:r>
            <a:br/>
            <a:r>
              <a:t>      refetchOnWindowFocus: false,</a:t>
            </a:r>
            <a:br/>
            <a:r>
              <a:t>    },</a:t>
            </a:r>
            <a:br/>
            <a:r>
              <a:t>  },</a:t>
            </a:r>
            <a:br/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Zustand + React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Zod 런타임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문제 상황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API 응답이 예상과 다를 수 있음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TypeScript는 **컴파일 타임**에만 검증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런타임 에러 발생 가능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해결책: Zod 스키마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const RecommendOutSchema = z.object({</a:t>
            </a:r>
            <a:br/>
            <a:r>
              <a:t>  mood: z.string(),</a:t>
            </a:r>
            <a:br/>
            <a:r>
              <a:t>  results: z.array(z.object({</a:t>
            </a:r>
            <a:br/>
            <a:r>
              <a:t>    ref: z.string(),</a:t>
            </a:r>
            <a:br/>
            <a:r>
              <a:t>    text: z.string(),</a:t>
            </a:r>
            <a:br/>
            <a:r>
              <a:t>    comment: z.string().optional(),</a:t>
            </a:r>
            <a:br/>
            <a:r>
              <a:t>    tag: z.string().optional(),</a:t>
            </a:r>
            <a:br/>
            <a:r>
              <a:t>  })),</a:t>
            </a:r>
            <a:br/>
            <a:r>
              <a:t>  candidates: z.array(...).nullable().optional(),</a:t>
            </a:r>
            <a:br/>
            <a:r>
              <a:t>});</a:t>
            </a:r>
            <a:br/>
            <a:br/>
            <a:r>
              <a:t>// 자동 타입 추론</a:t>
            </a:r>
            <a:br/>
            <a:r>
              <a:t>type RecommendOut = z.infer&lt;typeof RecommendOutSchema&gt;;</a:t>
            </a:r>
            <a:br/>
            <a:br/>
            <a:r>
              <a:t>// API 응답 검증</a:t>
            </a:r>
            <a:br/>
            <a:r>
              <a:t>const data = RecommendOutSchema.parse(apiResponse);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실제 해결 사례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API가 `candidates: null` 반환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`.nullable().optional()` 추가로 해결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TypeScript + Zod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커스텀 훅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키보드 감지 훅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export function useKeyboardVisible() {</a:t>
            </a:r>
            <a:br/>
            <a:r>
              <a:t>  const [isVisible, setIsVisible] = useState(false);</a:t>
            </a:r>
            <a:br/>
            <a:br/>
            <a:r>
              <a:t>  useEffect(() =&gt; {</a:t>
            </a:r>
            <a:br/>
            <a:r>
              <a:t>    const showEvent = Platform.OS === "ios"</a:t>
            </a:r>
            <a:br/>
            <a:r>
              <a:t>      ? "keyboardWillShow"</a:t>
            </a:r>
            <a:br/>
            <a:r>
              <a:t>      : "keyboardDidShow";</a:t>
            </a:r>
            <a:br/>
            <a:br/>
            <a:r>
              <a:t>    const subscription = Keyboard.addListener(showEvent, () =&gt; {</a:t>
            </a:r>
            <a:br/>
            <a:r>
              <a:t>      setIsVisible(true);</a:t>
            </a:r>
            <a:br/>
            <a:r>
              <a:t>    });</a:t>
            </a:r>
            <a:br/>
            <a:r>
              <a:t>    return () =&gt; subscription.remove();</a:t>
            </a:r>
            <a:br/>
            <a:r>
              <a:t>  }, []);</a:t>
            </a:r>
            <a:br/>
            <a:br/>
            <a:r>
              <a:t>  return isVisible;</a:t>
            </a:r>
            <a:br/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SafeArea 패딩 훅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export function useSafeAreaPadding() {</a:t>
            </a:r>
            <a:br/>
            <a:r>
              <a:t>  const insets = useSafeAreaInsets();</a:t>
            </a:r>
            <a:br/>
            <a:br/>
            <a:r>
              <a:t>  const headerPaddingTop = useMemo(() =&gt; {</a:t>
            </a:r>
            <a:br/>
            <a:r>
              <a:t>    return Platform.OS === "android"</a:t>
            </a:r>
            <a:br/>
            <a:r>
              <a:t>      ? (StatusBar.currentHeight ?? 0) + 12</a:t>
            </a:r>
            <a:br/>
            <a:r>
              <a:t>      : insets.top + 12;</a:t>
            </a:r>
            <a:br/>
            <a:r>
              <a:t>  }, [insets.top]);</a:t>
            </a:r>
            <a:br/>
            <a:br/>
            <a:r>
              <a:t>  return { insets, headerPaddingTop };</a:t>
            </a:r>
            <a:br/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Platform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플랫폼별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키보드 처리 전략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// iOS: KeyboardAvoidingView 사용</a:t>
            </a:r>
            <a:br/>
            <a:r>
              <a:t>// Android: app.json의 softwareKeyboardLayoutMode: "resize"</a:t>
            </a:r>
            <a:br/>
            <a:br/>
            <a:r>
              <a:t>if (Platform.OS === "ios") {</a:t>
            </a:r>
            <a:br/>
            <a:r>
              <a:t>  return (</a:t>
            </a:r>
            <a:br/>
            <a:r>
              <a:t>    &lt;KeyboardAvoidingView behavior="padding"&gt;</a:t>
            </a:r>
            <a:br/>
            <a:r>
              <a:t>      {content}</a:t>
            </a:r>
            <a:br/>
            <a:r>
              <a:t>    &lt;/KeyboardAvoidingView&gt;</a:t>
            </a:r>
            <a:br/>
            <a:r>
              <a:t>  );</a:t>
            </a:r>
            <a:br/>
            <a:r>
              <a:t>}</a:t>
            </a:r>
            <a:br/>
            <a:r>
              <a:t>return content;  // Android는 시스템이 처리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app.json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{</a:t>
            </a:r>
            <a:br/>
            <a:r>
              <a:t>  "android": {</a:t>
            </a:r>
            <a:br/>
            <a:r>
              <a:t>    "softwareKeyboardLayoutMode": "resize"</a:t>
            </a:r>
            <a:br/>
            <a:r>
              <a:t>  }</a:t>
            </a:r>
            <a:br/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폰트 설정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export const baseFontFamily = Platform.select({</a:t>
            </a:r>
            <a:br/>
            <a:r>
              <a:t>  ios: "System",</a:t>
            </a:r>
            <a:br/>
            <a:r>
              <a:t>  android: "Roboto",</a:t>
            </a:r>
            <a:br/>
            <a:r>
              <a:t>  default: "sans-serif",</a:t>
            </a:r>
            <a:br/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iOS / Android 차이점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성능 최적화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Frontend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// 1. useCallback - 함수 메모이제이션</a:t>
            </a:r>
            <a:br/>
            <a:r>
              <a:t>const handleSend = useCallback(() =&gt; {</a:t>
            </a:r>
            <a:br/>
            <a:r>
              <a:t>  router.push({ pathname: "/result", params: { mood } });</a:t>
            </a:r>
            <a:br/>
            <a:r>
              <a:t>}, [router, mood]);</a:t>
            </a:r>
            <a:br/>
            <a:br/>
            <a:r>
              <a:t>// 2. useMemo - 값 메모이제이션</a:t>
            </a:r>
            <a:br/>
            <a:r>
              <a:t>const trimmedMessage = useMemo(() =&gt; message.trim(), [message]);</a:t>
            </a:r>
            <a:br/>
            <a:br/>
            <a:r>
              <a:t>// 3. isLoading vs isFetching</a:t>
            </a:r>
            <a:br/>
            <a:r>
              <a:t>const showLoading = isLoading || isFetching;  // refetch도 로딩 표시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Backend (RAG)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**FAISS**: 서버 없이 파일 기반 인덱스 (경량화)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**임베딩 정규화**: Inner Product = 코사인 유사도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**청킹 전략**: 절 단위로 의미적 완결성 확보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**LLM 설정**: temperature 0.4로 일관성 유지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Frontend &amp; Backend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RAG 기술적 의의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1. Hallucination 완화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생성 전 **FAISS 벡터 검색**으로 성경 본문 확보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검색 결과를 LLM 프롬프트의 **근거(Context)**로 주입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LLM 단독 생성 대비 근거 없는 응답 가능성 **구조적 감소**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2. 의미 기반 검색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키워드 매칭이 아닌 **SentenceTransformer 의미 임베딩**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자연어 질의 ↔ 성경 구절 간 **의미적 유사도** 검색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3. 경량 아키텍처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외부 Vector DB 서버 없이 **파일 기반 FAISS**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약 3만 절 규모에 적합한 **저비용 구조**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4. 확장 가능성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모델 재학습 없이 **인덱스 갱신만으로 데이터 업데이트**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다른 도메인(정책 문서, 가이드 등)으로 확장 가능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연구적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프로젝트 특징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영역 | 특징 |</a:t>
            </a:r>
            <a:br/>
            <a:r>
              <a:t>|------|------|</a:t>
            </a:r>
            <a:br/>
            <a:r>
              <a:t>| **AI/ML** | RAG 파이프라인, FAISS 벡터 검색, LLM 생성 |</a:t>
            </a:r>
            <a:br/>
            <a:r>
              <a:t>| **Backend** | FastAPI, SentenceTransformer, 한글 후처리 |</a:t>
            </a:r>
            <a:br/>
            <a:r>
              <a:t>| **Frontend** | React Native + Expo, TypeScript |</a:t>
            </a:r>
            <a:br/>
            <a:r>
              <a:t>| **상태관리** | React Query + Zustand |</a:t>
            </a:r>
            <a:br/>
            <a:r>
              <a:t>| **타입 안정성** | Zod 런타임 검증 |</a:t>
            </a:r>
            <a:br/>
            <a:r>
              <a:t>| **크로스플랫폼** | iOS/Android 동시 지원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사용된 패턴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RAG (Retrieval-Augmented Generation)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Feature-based Layered Architecture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Custom Hooks Pattern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Platform Abstraction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기술 하이라이트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회고 및 배운 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Backend (RAG)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이슈 | 해결 |</a:t>
            </a:r>
            <a:br/>
            <a:r>
              <a:t>|------|------|</a:t>
            </a:r>
            <a:br/>
            <a:r>
              <a:t>| LLM Hallucination | RAG 구조로 근거 기반 생성 |</a:t>
            </a:r>
            <a:br/>
            <a:r>
              <a:t>| 검색 정확도 | E5 모델 + query/passage prefix |</a:t>
            </a:r>
            <a:br/>
            <a:r>
              <a:t>| 응답 형식 | JSON response_format 강제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Frontend (React Native)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이슈 | 해결 |</a:t>
            </a:r>
            <a:br/>
            <a:r>
              <a:t>|------|------|</a:t>
            </a:r>
            <a:br/>
            <a:r>
              <a:t>| API 파싱 실패 | Zod `.nullable().optional()` |</a:t>
            </a:r>
            <a:br/>
            <a:r>
              <a:t>| Android 키보드 이중 처리 | 플랫폼별 분기 처리 |</a:t>
            </a:r>
            <a:br/>
            <a:r>
              <a:t>| refetch 로딩 미표시 | isFetching 활용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React Native 스터디 후기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네이티브 vs 크로스플랫폼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항목 | iOS/AOS 네이티브 | React Native |</a:t>
            </a:r>
            <a:br/>
            <a:r>
              <a:t>|------|-----------------|--------------|</a:t>
            </a:r>
            <a:br/>
            <a:r>
              <a:t>| 코드베이스 | 2개 (Swift + Kotlin) | 1개 (TypeScript) |</a:t>
            </a:r>
            <a:br/>
            <a:r>
              <a:t>| 개발 속도 | 플랫폼별 개별 개발 | 동시 개발 가능 |</a:t>
            </a:r>
            <a:br/>
            <a:r>
              <a:t>| 러닝커브 | 각 플랫폼 별도 학습 | 웹 개발자 친화적 |</a:t>
            </a:r>
            <a:br/>
            <a:r>
              <a:t>| 성능 | 최적화 유리 | 대부분 충분 |</a:t>
            </a:r>
            <a:br/>
            <a:r>
              <a:t>| 핫 리로드 | 빌드 필요 | 즉시 반영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느낀 점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**Expo의 강력함**: 빌드, 배포, OTA 업데이트가 매우 편리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**플랫폼 차이**: iOS/Android 동작 차이를 이해하고 분기 처리 필요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**생산성 향상**: 한 번의 개발로 두 플랫폼 동시 지원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개발 중 이슈 &amp;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SI 프로젝트 적용 가능성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1. React Native로 신규 앱 프로젝트 수주 가능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기존 SI 수주 방식:</a:t>
            </a:r>
            <a:br/>
            <a:r>
              <a:t>  iOS 앱 + Android 앱 = 개발자 2명 이상 필요</a:t>
            </a:r>
            <a:br/>
            <a:r>
              <a:t>  → 인건비 증가, 일정 리스크</a:t>
            </a:r>
            <a:br/>
            <a:br/>
            <a:r>
              <a:t>React Native 도입 시:</a:t>
            </a:r>
            <a:br/>
            <a:r>
              <a:t>  iOS + Android 동시 개발 = 1명으로 가능</a:t>
            </a:r>
            <a:br/>
            <a:r>
              <a:t>  → 경쟁력 있는 견적, 빠른 납품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**SI 관점에서의 장점**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**견적 경쟁력**: 단일 코드베이스로 인건비 절감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**납기 단축**: 양 플랫폼 동시 개발로 일정 50% 단축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**유지보수 효율**: 하나의 코드만 관리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**고객 만족**: iOS/Android 동일 기능 동시 출시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**수주 가능한 프로젝트 유형**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유형 | 예시 |</a:t>
            </a:r>
            <a:br/>
            <a:r>
              <a:t>|------|------|</a:t>
            </a:r>
            <a:br/>
            <a:r>
              <a:t>| 신규 앱 개발 | 고객사 서비스 앱, 사내 업무 앱 |</a:t>
            </a:r>
            <a:br/>
            <a:r>
              <a:t>| 기존 앱 리뉴얼 | 네이티브 → 크로스플랫폼 전환 |</a:t>
            </a:r>
            <a:br/>
            <a:r>
              <a:t>| MVP 빠른 개발 | 스타트업/신사업 PoC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2. RAG 기반 AI 프로젝트 수주 가능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고객사 요구: "우리 회사 문서 기반으로 AI 챗봇 만들어주세요"</a:t>
            </a:r>
            <a:br/>
            <a:r>
              <a:t>     ↓</a:t>
            </a:r>
            <a:br/>
            <a:r>
              <a:t>RAG 기술로 구현 가능!</a:t>
            </a:r>
            <a:br/>
            <a:r>
              <a:t>  • 고객사 문서 → 벡터화 → 검색 → LLM 답변</a:t>
            </a:r>
            <a:br/>
            <a:r>
              <a:t>  • 모델 학습 없이 문서만 넣으면 바로 서비스 가능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**SI에서 RAG가 강력한 이유**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**빠른 구축**: Fine-tuning 없이 문서만 색인하면 끝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**쉬운 업데이트**: 문서 변경 시 재색인만 하면 됨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**비용 효율**: 자체 모델 학습 불필요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**수주 가능한 AI 프로젝트**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도메인 | 프로젝트 예시 |</a:t>
            </a:r>
            <a:br/>
            <a:r>
              <a:t>|--------|-------------|</a:t>
            </a:r>
            <a:br/>
            <a:r>
              <a:t>| **금융/보험** | 약관 기반 상담 챗봇 |</a:t>
            </a:r>
            <a:br/>
            <a:r>
              <a:t>| **제조/건설** | 매뉴얼 기반 기술 지원 시스템 |</a:t>
            </a:r>
            <a:br/>
            <a:r>
              <a:t>| **공공기관** | 민원 FAQ 자동 응답 |</a:t>
            </a:r>
            <a:br/>
            <a:r>
              <a:t>| **유통/커머스** | 상품 추천 AI |</a:t>
            </a:r>
            <a:br/>
            <a:r>
              <a:t>| **헬스케어** | 의료 정보 검색 서비스 |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3. 검증된 기술 스택</a:t>
            </a:r>
          </a:p>
          <a:p>
            <a:pPr>
              <a:spcAft>
                <a:spcPts val="600"/>
              </a:spcAft>
            </a:pP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이번 프로젝트에서 검증 완료한 기술</a:t>
            </a:r>
            <a:br/>
            <a:r>
              <a:t>├── 모바일: React Native + Expo + TypeScript</a:t>
            </a:r>
            <a:br/>
            <a:r>
              <a:t>├── 상태관리: React Query + Zustand + Zod</a:t>
            </a:r>
            <a:br/>
            <a:r>
              <a:t>└── AI: RAG + FAISS + LLM (OpenAI)</a:t>
            </a:r>
            <a:br/>
            <a:r>
              <a:t>    ↓</a:t>
            </a:r>
            <a:br/>
            <a:r>
              <a:t>신규 SI 프로젝트에 즉시 적용 가능!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**기술 역량 확보 현황**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크로스플랫폼 앱 개발: **실제 앱스토어/플레이스토어 출시 경험**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RAG 시스템 구축: **31,000건 문서 기반 서비스 운영 경험**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전체 파이프라인: **기획 → 개발 → 배포까지 풀스택 경험**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신규 사업에 적용 가능한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향후 발전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단기 목표 (3-6개월)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목표 | 내용 |</a:t>
            </a:r>
            <a:br/>
            <a:r>
              <a:t>|------|------|</a:t>
            </a:r>
            <a:br/>
            <a:r>
              <a:t>| **RN 역량 확산** | 팀 내 React Native 스터디/세션 진행 |</a:t>
            </a:r>
            <a:br/>
            <a:r>
              <a:t>| **신규 사업 적용** | 차기 앱 프로젝트에 React Native 도입 |</a:t>
            </a:r>
            <a:br/>
            <a:r>
              <a:t>| **RAG 템플릿화** | 재사용 가능한 RAG 보일러플레이트 구축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중장기 목표 (6-12개월)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목표 | 내용 |</a:t>
            </a:r>
            <a:br/>
            <a:r>
              <a:t>|------|------|</a:t>
            </a:r>
            <a:br/>
            <a:r>
              <a:t>| **AI 사업 확대** | RAG 기반 SI 프로젝트 적극 수주 |</a:t>
            </a:r>
            <a:br/>
            <a:r>
              <a:t>| **기술 고도화** | Reranking, Hybrid Search 등 검색 품질 향상 |</a:t>
            </a:r>
            <a:br/>
            <a:r>
              <a:t>| **자체 솔루션** | 문서 기반 AI 챗봇 솔루션 패키지화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기술 로드맵</a:t>
            </a:r>
          </a:p>
          <a:p>
            <a:pPr>
              <a:buNone/>
              <a:defRPr sz="1400">
                <a:solidFill>
                  <a:srgbClr val="1C202D"/>
                </a:solidFill>
                <a:latin typeface="Courier New"/>
              </a:defRPr>
            </a:pPr>
            <a:r>
              <a:t>| 영역 | 현재 | 목표 |</a:t>
            </a:r>
            <a:br/>
            <a:r>
              <a:t>|------|------|------|</a:t>
            </a:r>
            <a:br/>
            <a:r>
              <a:t>| **Vector DB** | FAISS (파일 기반) | Pinecone/Weaviate (클라우드) |</a:t>
            </a:r>
            <a:br/>
            <a:r>
              <a:t>| **검색** | 단순 유사도 | Reranking + Hybrid Search |</a:t>
            </a:r>
            <a:br/>
            <a:r>
              <a:t>| **LLM** | OpenAI API | Azure OpenAI / 온프레미스 LLM |</a:t>
            </a:r>
            <a:br/>
            <a:r>
              <a:t>| **앱 배포** | 수동 빌드 | EAS + CI/CD 자동화 |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기대 효과</a:t>
            </a:r>
          </a:p>
          <a:p>
            <a:pPr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2E384B"/>
                </a:solidFill>
                <a:latin typeface="Courier New"/>
              </a:defRPr>
            </a:pPr>
            <a:r>
              <a:t>크로스플랫폼 + AI 역량 확보</a:t>
            </a:r>
            <a:br/>
            <a:r>
              <a:t>     ↓</a:t>
            </a:r>
            <a:br/>
            <a:r>
              <a:t>SI 수주 경쟁력 강화</a:t>
            </a:r>
            <a:br/>
            <a:r>
              <a:t>     ↓</a:t>
            </a:r>
            <a:br/>
            <a:r>
              <a:t>신규 사업 영역 확대 (AI 솔루션)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팀 역량 강화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0192B"/>
                </a:solidFill>
                <a:latin typeface="Apple SD Gothic Neo"/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테스트 환경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**API**: https://mincha.co.kr/recommend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**Swagger**: https://mincha.co.kr/docs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질문 있으신가요?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부록: 참고 자료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Frontend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[Expo Documentation](https://docs.expo.dev/)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[React Query Documentation](https://tanstack.com/query)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[Zod Documentation](https://zod.dev/)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[Zustand Documentation](https://zustand-demo.pmnd.rs/)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Backend / AI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[FAISS Documentation](https://faiss.ai/)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[SentenceTransformers](https://www.sbert.net/)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[RAG Indexing Methods](https://thetechbuffet.substack.com/p/rag-indexing-methods)</a:t>
            </a:r>
          </a:p>
          <a:p>
            <a:pPr>
              <a:spcAft>
                <a:spcPts val="600"/>
              </a:spcAft>
            </a:pPr>
          </a:p>
          <a:p>
            <a:pPr>
              <a:buNone/>
              <a:defRPr sz="2200" b="1">
                <a:solidFill>
                  <a:srgbClr val="23375C"/>
                </a:solidFill>
                <a:latin typeface="Apple SD Gothic Neo"/>
              </a:defRPr>
            </a:pPr>
            <a:r>
              <a:t>데이터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성경 데이터: Korean Revised Version 1910 (Public Domain)</a:t>
            </a:r>
          </a:p>
          <a:p>
            <a:pPr>
              <a:defRPr sz="1800">
                <a:solidFill>
                  <a:srgbClr val="1C202D"/>
                </a:solidFill>
                <a:latin typeface="Apple SD Gothic Neo"/>
              </a:defRPr>
            </a:pPr>
            <a:r>
              <a:t>총 규모: 약 31,000절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0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BEEF7"/>
                </a:solidFill>
                <a:latin typeface="Apple SD Gothic Neo"/>
              </a:defRPr>
            </a:pPr>
            <a:r>
              <a:t>감사합니다!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F6676"/>
                </a:solidFill>
                <a:latin typeface="Apple SD Gothic Neo"/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